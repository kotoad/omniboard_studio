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Tomorrow" panose="020B0604020202020204" charset="0"/>
      <p:regular r:id="rId13"/>
    </p:embeddedFont>
    <p:embeddedFont>
      <p:font typeface="Tomorrow Semi Bold" panose="020B0604020202020204" charset="0"/>
      <p:regular r:id="rId14"/>
    </p:embeddedFont>
  </p:embeddedFontLst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1D1B"/>
    <a:srgbClr val="1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608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27597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Aplikace pro zjednodušené programování Raspberry Pi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0287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Kryštof Otta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5209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Střední průmyslová škola elektrotechniky a informatiky, Ostrava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1389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Moravskoslezský kraj • Středoškolská odborná činnost 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3173"/>
            <a:ext cx="5094089" cy="63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Obsah prezentace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03770" y="1625918"/>
            <a:ext cx="22860" cy="5980390"/>
          </a:xfrm>
          <a:prstGeom prst="roundRect">
            <a:avLst>
              <a:gd name="adj" fmla="val 133706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6930628" y="1843683"/>
            <a:ext cx="407432" cy="22860"/>
          </a:xfrm>
          <a:prstGeom prst="roundRect">
            <a:avLst>
              <a:gd name="adj" fmla="val 133706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7238821" y="1778734"/>
            <a:ext cx="152757" cy="152757"/>
          </a:xfrm>
          <a:prstGeom prst="roundRect">
            <a:avLst>
              <a:gd name="adj" fmla="val 299299"/>
            </a:avLst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3953232" y="1695926"/>
            <a:ext cx="2546985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Cíle práce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2361" y="2123956"/>
            <a:ext cx="5707856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Hlavní zaměření projektu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92340" y="3024664"/>
            <a:ext cx="407432" cy="22860"/>
          </a:xfrm>
          <a:prstGeom prst="roundRect">
            <a:avLst>
              <a:gd name="adj" fmla="val 133706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7238821" y="2959715"/>
            <a:ext cx="152757" cy="152757"/>
          </a:xfrm>
          <a:prstGeom prst="roundRect">
            <a:avLst>
              <a:gd name="adj" fmla="val 299299"/>
            </a:avLst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8130183" y="2876907"/>
            <a:ext cx="2552462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Použité technologie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130183" y="3304937"/>
            <a:ext cx="5707856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Technologická řešení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30628" y="4057650"/>
            <a:ext cx="407432" cy="22860"/>
          </a:xfrm>
          <a:prstGeom prst="roundRect">
            <a:avLst>
              <a:gd name="adj" fmla="val 133706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7238821" y="3992701"/>
            <a:ext cx="152757" cy="152757"/>
          </a:xfrm>
          <a:prstGeom prst="roundRect">
            <a:avLst>
              <a:gd name="adj" fmla="val 299299"/>
            </a:avLst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2766060" y="3909893"/>
            <a:ext cx="3734157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Architektura a klíčové funkce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92361" y="4337923"/>
            <a:ext cx="5707856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GUI, nastavení, tutoriály a kompilace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92340" y="5090755"/>
            <a:ext cx="407432" cy="22860"/>
          </a:xfrm>
          <a:prstGeom prst="roundRect">
            <a:avLst>
              <a:gd name="adj" fmla="val 133706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7238821" y="5025807"/>
            <a:ext cx="152757" cy="152757"/>
          </a:xfrm>
          <a:prstGeom prst="roundRect">
            <a:avLst>
              <a:gd name="adj" fmla="val 299299"/>
            </a:avLst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8130183" y="4942999"/>
            <a:ext cx="2546985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Budoucí vývoj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30183" y="5371028"/>
            <a:ext cx="5707856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Plánované rozšíření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30628" y="6123861"/>
            <a:ext cx="407432" cy="22860"/>
          </a:xfrm>
          <a:prstGeom prst="roundRect">
            <a:avLst>
              <a:gd name="adj" fmla="val 133706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7238821" y="6058912"/>
            <a:ext cx="152757" cy="152757"/>
          </a:xfrm>
          <a:prstGeom prst="roundRect">
            <a:avLst>
              <a:gd name="adj" fmla="val 299299"/>
            </a:avLst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3355658" y="5976104"/>
            <a:ext cx="3144560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Změny od dokumentace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92361" y="6404134"/>
            <a:ext cx="5707856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Implementované vylepšení</a:t>
            </a:r>
            <a:endParaRPr lang="en-US" sz="1600" dirty="0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1F5CAAF8-9624-8DDF-F9A5-934F6A9E5F7E}"/>
              </a:ext>
            </a:extLst>
          </p:cNvPr>
          <p:cNvSpPr/>
          <p:nvPr/>
        </p:nvSpPr>
        <p:spPr>
          <a:xfrm>
            <a:off x="12461132" y="7605946"/>
            <a:ext cx="2169268" cy="52601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8545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Cíle práce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137" y="1526381"/>
            <a:ext cx="5839539" cy="583953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30834" y="2603778"/>
            <a:ext cx="4313277" cy="1154192"/>
          </a:xfrm>
          <a:prstGeom prst="roundRect">
            <a:avLst>
              <a:gd name="adj" fmla="val 9507"/>
            </a:avLst>
          </a:prstGeom>
          <a:solidFill>
            <a:srgbClr val="1D1D1B"/>
          </a:solidFill>
          <a:ln w="22860">
            <a:solidFill>
              <a:srgbClr val="55555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2"/>
          <p:cNvSpPr/>
          <p:nvPr/>
        </p:nvSpPr>
        <p:spPr>
          <a:xfrm>
            <a:off x="9507974" y="2603778"/>
            <a:ext cx="91440" cy="1154192"/>
          </a:xfrm>
          <a:prstGeom prst="roundRect">
            <a:avLst>
              <a:gd name="adj" fmla="val 26046"/>
            </a:avLst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/>
          <p:nvPr/>
        </p:nvSpPr>
        <p:spPr>
          <a:xfrm>
            <a:off x="9780984" y="278534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Funkční aplikace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780984" y="3144441"/>
            <a:ext cx="388155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Vytvořit kompletní nástroj pro programování Raspberry Pi s všemi potřebnými funkcemi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530834" y="3869055"/>
            <a:ext cx="4313277" cy="1154192"/>
          </a:xfrm>
          <a:prstGeom prst="roundRect">
            <a:avLst>
              <a:gd name="adj" fmla="val 9507"/>
            </a:avLst>
          </a:prstGeom>
          <a:solidFill>
            <a:srgbClr val="1D1D1B"/>
          </a:solidFill>
          <a:ln w="22860">
            <a:solidFill>
              <a:srgbClr val="55555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6"/>
          <p:cNvSpPr/>
          <p:nvPr/>
        </p:nvSpPr>
        <p:spPr>
          <a:xfrm>
            <a:off x="9507974" y="3869055"/>
            <a:ext cx="91440" cy="1154192"/>
          </a:xfrm>
          <a:prstGeom prst="roundRect">
            <a:avLst>
              <a:gd name="adj" fmla="val 26046"/>
            </a:avLst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7"/>
          <p:cNvSpPr/>
          <p:nvPr/>
        </p:nvSpPr>
        <p:spPr>
          <a:xfrm>
            <a:off x="9780984" y="405062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Intuitivní prostředí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780984" y="4409718"/>
            <a:ext cx="388155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Uživatelské rozhraní navržené tak, aby bylo jednoduché a přehledné pro všechny uživatele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530834" y="5134332"/>
            <a:ext cx="4313277" cy="1154192"/>
          </a:xfrm>
          <a:prstGeom prst="roundRect">
            <a:avLst>
              <a:gd name="adj" fmla="val 9507"/>
            </a:avLst>
          </a:prstGeom>
          <a:solidFill>
            <a:srgbClr val="1D1D1B"/>
          </a:solidFill>
          <a:ln w="22860">
            <a:solidFill>
              <a:srgbClr val="55555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Shape 10"/>
          <p:cNvSpPr/>
          <p:nvPr/>
        </p:nvSpPr>
        <p:spPr>
          <a:xfrm>
            <a:off x="9507974" y="5134332"/>
            <a:ext cx="91440" cy="1154192"/>
          </a:xfrm>
          <a:prstGeom prst="roundRect">
            <a:avLst>
              <a:gd name="adj" fmla="val 26046"/>
            </a:avLst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1"/>
          <p:cNvSpPr/>
          <p:nvPr/>
        </p:nvSpPr>
        <p:spPr>
          <a:xfrm>
            <a:off x="9780984" y="5315903"/>
            <a:ext cx="210954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Vzdělávací materiály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9780984" y="5674995"/>
            <a:ext cx="388155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Integrace návodů a cvičení pro efektivní učení programování</a:t>
            </a:r>
            <a:endParaRPr lang="en-US" sz="1250" dirty="0"/>
          </a:p>
        </p:txBody>
      </p:sp>
      <p:sp>
        <p:nvSpPr>
          <p:cNvPr id="16" name="Obdélník 15">
            <a:extLst>
              <a:ext uri="{FF2B5EF4-FFF2-40B4-BE49-F238E27FC236}">
                <a16:creationId xmlns:a16="http://schemas.microsoft.com/office/drawing/2014/main" id="{1AF2536C-03BD-F512-1984-0E159081FFC0}"/>
              </a:ext>
            </a:extLst>
          </p:cNvPr>
          <p:cNvSpPr/>
          <p:nvPr/>
        </p:nvSpPr>
        <p:spPr>
          <a:xfrm>
            <a:off x="12461132" y="7605946"/>
            <a:ext cx="2169268" cy="526015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2725"/>
            <a:ext cx="56851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Použité technologie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63310" y="2965133"/>
            <a:ext cx="4219575" cy="60960"/>
          </a:xfrm>
          <a:prstGeom prst="rect">
            <a:avLst/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145542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Python a HTML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Základní programovací jazyky pro vývoj aplikace a webového rozhraní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05413" y="2965133"/>
            <a:ext cx="4219575" cy="60960"/>
          </a:xfrm>
          <a:prstGeom prst="rect">
            <a:avLst/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589752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PyQt6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374332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Framework pro vytvoření moderního a responsivního grafického uživatelského rozhraní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7515" y="2965133"/>
            <a:ext cx="4219575" cy="60960"/>
          </a:xfrm>
          <a:prstGeom prst="rect">
            <a:avLst/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10306407" y="3252907"/>
            <a:ext cx="29017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PyBoard a paramiko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Knihovny pro komunikaci s Raspberry Pi a přenos souborů přes SSH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63310" y="5285661"/>
            <a:ext cx="13103781" cy="60960"/>
          </a:xfrm>
          <a:prstGeom prst="rect">
            <a:avLst/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897523" y="55734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PyInstaller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60638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Nástroj pro balení aplikace do spustitelného souboru pro distribuci</a:t>
            </a:r>
            <a:endParaRPr lang="en-US" sz="1750" dirty="0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AF47BC5C-095E-9FDD-599C-A658EACE6B30}"/>
              </a:ext>
            </a:extLst>
          </p:cNvPr>
          <p:cNvSpPr/>
          <p:nvPr/>
        </p:nvSpPr>
        <p:spPr>
          <a:xfrm>
            <a:off x="12461132" y="7605946"/>
            <a:ext cx="2169268" cy="526015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4723"/>
            <a:ext cx="665261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Architektura a klíčové funkce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269683"/>
            <a:ext cx="3629144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GUI</a:t>
            </a:r>
            <a:endParaRPr lang="en-US" sz="2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119" y="1940957"/>
            <a:ext cx="10434042" cy="5643801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93EAEAA3-D555-6F54-9F66-FE79FA640140}"/>
              </a:ext>
            </a:extLst>
          </p:cNvPr>
          <p:cNvSpPr/>
          <p:nvPr/>
        </p:nvSpPr>
        <p:spPr>
          <a:xfrm>
            <a:off x="12461132" y="7605946"/>
            <a:ext cx="2169268" cy="526015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71857"/>
            <a:ext cx="83169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Architektura a klíčové funkce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71361"/>
            <a:ext cx="474916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Nastavení a tutoriály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63310" y="4148018"/>
            <a:ext cx="60960" cy="1640086"/>
          </a:xfrm>
          <a:prstGeom prst="rect">
            <a:avLst/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214438" y="4178498"/>
            <a:ext cx="36050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Automatická detekce RPI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81564" y="4668917"/>
            <a:ext cx="387084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Aplikace umožnuje automatické najití RPI pomocí zadaného jména a hesla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05413" y="4148018"/>
            <a:ext cx="60960" cy="1640086"/>
          </a:xfrm>
          <a:prstGeom prst="rect">
            <a:avLst/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6041469" y="41784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Výběr jazyka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23667" y="4668917"/>
            <a:ext cx="38708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Podpora jak češtiny tak angličtiny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7515" y="4148018"/>
            <a:ext cx="60960" cy="1640086"/>
          </a:xfrm>
          <a:prstGeom prst="rect">
            <a:avLst/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10483572" y="41784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Tutoriály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965769" y="4668917"/>
            <a:ext cx="387084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Obsahuje návody a příručky a cvičení pro rychlé osvojení jak aplikace tak programování</a:t>
            </a:r>
            <a:endParaRPr lang="en-US" sz="1750" dirty="0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F5F86D7F-5021-4839-B3DD-D0E5AAB8467D}"/>
              </a:ext>
            </a:extLst>
          </p:cNvPr>
          <p:cNvSpPr/>
          <p:nvPr/>
        </p:nvSpPr>
        <p:spPr>
          <a:xfrm>
            <a:off x="12461132" y="7605946"/>
            <a:ext cx="2169268" cy="526015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2608"/>
            <a:ext cx="748569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Architektura a klíčové funkce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574006"/>
            <a:ext cx="4082891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Kompilace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199" y="3320534"/>
            <a:ext cx="7472601" cy="308562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2867" y="2566511"/>
            <a:ext cx="1020723" cy="15312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807303" y="2770584"/>
            <a:ext cx="284440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MicroPython a Python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0807303" y="3273147"/>
            <a:ext cx="3036808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Podpora obou jazyků pro maximální flexibilitu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2867" y="4097774"/>
            <a:ext cx="1020723" cy="15312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807303" y="430184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Provádění kódu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10807303" y="4804410"/>
            <a:ext cx="3036808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Okamžitý spuštění kódu na Raspberry Pi</a:t>
            </a:r>
            <a:endParaRPr lang="en-US" sz="1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2867" y="5629037"/>
            <a:ext cx="1020723" cy="15312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807303" y="583311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RT odezva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10807303" y="6335673"/>
            <a:ext cx="3036808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Real-time výstup a feedback při běhu programu</a:t>
            </a:r>
            <a:endParaRPr lang="en-US" sz="1600" dirty="0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3A1C2804-9E71-B3A5-E469-1CC33F12A166}"/>
              </a:ext>
            </a:extLst>
          </p:cNvPr>
          <p:cNvSpPr/>
          <p:nvPr/>
        </p:nvSpPr>
        <p:spPr>
          <a:xfrm>
            <a:off x="12461132" y="7605946"/>
            <a:ext cx="2169268" cy="52601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52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Budoucí vývoj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376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Plánované rozšíření aplikace pro pokrytí širšího spektra vzdělávacích a vývojářských potřeb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63310" y="3455670"/>
            <a:ext cx="4219575" cy="60960"/>
          </a:xfrm>
          <a:prstGeom prst="rect">
            <a:avLst/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455420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Další jazyky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23386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Integrace dalších programovacích jazyků pro širší využití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05413" y="3455670"/>
            <a:ext cx="4219575" cy="60960"/>
          </a:xfrm>
          <a:prstGeom prst="rect">
            <a:avLst/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5897523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Funkce a bloky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35893" y="423386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Vizuální programování pomocí bloků pro začátečníky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7515" y="3455670"/>
            <a:ext cx="4219575" cy="60960"/>
          </a:xfrm>
          <a:prstGeom prst="rect">
            <a:avLst/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10339626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Návody a cvičení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77995" y="423386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Praktické projekty a vzdělávací materiály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63310" y="5413296"/>
            <a:ext cx="6440567" cy="60960"/>
          </a:xfrm>
          <a:prstGeom prst="rect">
            <a:avLst/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2565916" y="57010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Linux support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6191488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Plná kompatibilita s různými distribucemi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6404" y="5413296"/>
            <a:ext cx="6440686" cy="60960"/>
          </a:xfrm>
          <a:prstGeom prst="rect">
            <a:avLst/>
          </a:prstGeom>
          <a:solidFill>
            <a:srgbClr val="E1E1D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8379143" y="5701070"/>
            <a:ext cx="45350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Podpora dotykových obrazovek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56884" y="6191488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Optimalizace pro použití na dotykových noteboocích</a:t>
            </a:r>
            <a:endParaRPr lang="en-US" sz="1750" dirty="0"/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541B71DC-B9CB-5B57-E533-5E5B4C124138}"/>
              </a:ext>
            </a:extLst>
          </p:cNvPr>
          <p:cNvSpPr/>
          <p:nvPr/>
        </p:nvSpPr>
        <p:spPr>
          <a:xfrm>
            <a:off x="12461132" y="7605946"/>
            <a:ext cx="2169268" cy="526015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4718"/>
            <a:ext cx="70038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Změny od dokumentace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171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Klíčové vylepšení implementované během vývoje projektu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35179"/>
            <a:ext cx="13042821" cy="3339703"/>
          </a:xfrm>
          <a:prstGeom prst="roundRect">
            <a:avLst>
              <a:gd name="adj" fmla="val 1019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793790" y="3335179"/>
            <a:ext cx="6521410" cy="1669852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1020604" y="35619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Centrální hub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0604" y="4052411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Centralizovaný řídicí panel pro správu všech projektů a zařízení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315200" y="3335179"/>
            <a:ext cx="6521410" cy="1669852"/>
          </a:xfrm>
          <a:prstGeom prst="rect">
            <a:avLst/>
          </a:prstGeom>
          <a:solidFill>
            <a:srgbClr val="3C3C3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7315200" y="3335179"/>
            <a:ext cx="30480" cy="1669852"/>
          </a:xfrm>
          <a:prstGeom prst="roundRect">
            <a:avLst>
              <a:gd name="adj" fmla="val 111628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7542014" y="3561993"/>
            <a:ext cx="32917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Přidání bloků a návodů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42014" y="4052411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Vizuální programovací bloky a kompletní sada vzdělávacích materiálů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005030"/>
            <a:ext cx="6521410" cy="1669852"/>
          </a:xfrm>
          <a:prstGeom prst="rect">
            <a:avLst/>
          </a:prstGeom>
          <a:solidFill>
            <a:srgbClr val="3C3C3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793790" y="5005030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1020604" y="5231844"/>
            <a:ext cx="34603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Optimalizace kompilace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0604" y="5722263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Zrychlení procesu překladu a spuštění kódu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315200" y="5005030"/>
            <a:ext cx="6521410" cy="1669852"/>
          </a:xfrm>
          <a:prstGeom prst="rect">
            <a:avLst/>
          </a:prstGeom>
          <a:solidFill>
            <a:srgbClr val="3C3C3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7315200" y="5005030"/>
            <a:ext cx="30480" cy="1669852"/>
          </a:xfrm>
          <a:prstGeom prst="roundRect">
            <a:avLst>
              <a:gd name="adj" fmla="val 111628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7315200" y="5005030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7542014" y="5231844"/>
            <a:ext cx="44679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Optimalizace ukládání souborů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42014" y="572226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Vylepšený systém pro správu projektů a automatické zálohy</a:t>
            </a:r>
            <a:endParaRPr lang="en-US" sz="1750" dirty="0"/>
          </a:p>
        </p:txBody>
      </p:sp>
      <p:sp>
        <p:nvSpPr>
          <p:cNvPr id="21" name="Obdélník 20">
            <a:extLst>
              <a:ext uri="{FF2B5EF4-FFF2-40B4-BE49-F238E27FC236}">
                <a16:creationId xmlns:a16="http://schemas.microsoft.com/office/drawing/2014/main" id="{F61189F6-108B-103E-CEC6-6196107B98DF}"/>
              </a:ext>
            </a:extLst>
          </p:cNvPr>
          <p:cNvSpPr/>
          <p:nvPr/>
        </p:nvSpPr>
        <p:spPr>
          <a:xfrm>
            <a:off x="12461132" y="7605946"/>
            <a:ext cx="2169268" cy="526015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88" y="1655088"/>
            <a:ext cx="4919424" cy="4919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1045726"/>
            <a:ext cx="75564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Děkuji za pozornost</a:t>
            </a:r>
            <a:endParaRPr lang="en-US" sz="8900" dirty="0"/>
          </a:p>
        </p:txBody>
      </p:sp>
      <p:sp>
        <p:nvSpPr>
          <p:cNvPr id="5" name="Shape 1"/>
          <p:cNvSpPr/>
          <p:nvPr/>
        </p:nvSpPr>
        <p:spPr>
          <a:xfrm>
            <a:off x="6280190" y="4221242"/>
            <a:ext cx="7556421" cy="1367909"/>
          </a:xfrm>
          <a:prstGeom prst="roundRect">
            <a:avLst>
              <a:gd name="adj" fmla="val 2487"/>
            </a:avLst>
          </a:prstGeom>
          <a:solidFill>
            <a:srgbClr val="1D1D1B"/>
          </a:solidFill>
          <a:ln w="30480">
            <a:solidFill>
              <a:srgbClr val="55555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2"/>
          <p:cNvSpPr/>
          <p:nvPr/>
        </p:nvSpPr>
        <p:spPr>
          <a:xfrm>
            <a:off x="6537484" y="4478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Kryštof Otta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537484" y="4968954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Střední průmyslová škola elektrotechniky a informatiky, Ostrava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6280190" y="5815965"/>
            <a:ext cx="7556421" cy="1367909"/>
          </a:xfrm>
          <a:prstGeom prst="roundRect">
            <a:avLst>
              <a:gd name="adj" fmla="val 2487"/>
            </a:avLst>
          </a:prstGeom>
          <a:solidFill>
            <a:srgbClr val="1D1D1B"/>
          </a:solidFill>
          <a:ln w="30480">
            <a:solidFill>
              <a:srgbClr val="55555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5"/>
          <p:cNvSpPr/>
          <p:nvPr/>
        </p:nvSpPr>
        <p:spPr>
          <a:xfrm>
            <a:off x="6537484" y="60732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GitHub projekt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537484" y="6563678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Scan QR kódu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pro přístup ke zdrojovému kódu a dokumentaci</a:t>
            </a:r>
            <a:endParaRPr lang="en-US" sz="1750" dirty="0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B9708C2D-FF71-0EBA-9D7F-1DB951EF5F9C}"/>
              </a:ext>
            </a:extLst>
          </p:cNvPr>
          <p:cNvSpPr/>
          <p:nvPr/>
        </p:nvSpPr>
        <p:spPr>
          <a:xfrm>
            <a:off x="12461132" y="7605946"/>
            <a:ext cx="2169268" cy="526015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360</Words>
  <Application>Microsoft Office PowerPoint</Application>
  <PresentationFormat>Vlastní</PresentationFormat>
  <Paragraphs>86</Paragraphs>
  <Slides>10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Arial</vt:lpstr>
      <vt:lpstr>Tomorrow</vt:lpstr>
      <vt:lpstr>Tomorrow Semi Bold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Kryštof Otta</cp:lastModifiedBy>
  <cp:revision>2</cp:revision>
  <dcterms:created xsi:type="dcterms:W3CDTF">2026-03-06T21:52:00Z</dcterms:created>
  <dcterms:modified xsi:type="dcterms:W3CDTF">2026-03-06T22:30:46Z</dcterms:modified>
</cp:coreProperties>
</file>